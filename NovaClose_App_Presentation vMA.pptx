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90"/>
    <p:restoredTop sz="94658"/>
  </p:normalViewPr>
  <p:slideViewPr>
    <p:cSldViewPr snapToGrid="0" snapToObjects="1">
      <p:cViewPr varScale="1">
        <p:scale>
          <a:sx n="112" d="100"/>
          <a:sy n="112" d="100"/>
        </p:scale>
        <p:origin x="224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80DF3-32B2-B147-BCC0-9B39B949C241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047F3-A70E-DE4A-ACB4-4FE5EA02F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46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047F3-A70E-DE4A-ACB4-4FE5EA02FF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56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1155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F2C"/>
                </a:solidFill>
              </a:rPr>
              <a:t>NovaClose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B78"/>
                </a:solidFill>
              </a:rPr>
              <a:t>AI-powered month-end close command centre | NovaTech | Feb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 err="1">
                <a:solidFill>
                  <a:srgbClr val="5B6B78"/>
                </a:solidFill>
              </a:rPr>
              <a:t>NovaClose</a:t>
            </a:r>
            <a:r>
              <a:rPr sz="900" dirty="0">
                <a:solidFill>
                  <a:srgbClr val="5B6B78"/>
                </a:solidFill>
              </a:rPr>
              <a:t> | App presentation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2D6AA9-BE46-4492-AB08-59D952E7C4A4}"/>
              </a:ext>
            </a:extLst>
          </p:cNvPr>
          <p:cNvSpPr txBox="1"/>
          <p:nvPr/>
        </p:nvSpPr>
        <p:spPr>
          <a:xfrm>
            <a:off x="804672" y="176479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0F1F2C"/>
                </a:solidFill>
              </a:rPr>
              <a:t>Tools used to build the app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EB86EB-A12B-315E-1E00-94BA2DC16045}"/>
              </a:ext>
            </a:extLst>
          </p:cNvPr>
          <p:cNvSpPr txBox="1"/>
          <p:nvPr/>
        </p:nvSpPr>
        <p:spPr>
          <a:xfrm>
            <a:off x="822960" y="226771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5B6B78"/>
                </a:solidFill>
              </a:rPr>
              <a:t>The prototype was built with a lightweight analytics and demo stack that is easy to explain and scale.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1A6DEAA-F413-4CB1-6FBF-5904074ECDAD}"/>
              </a:ext>
            </a:extLst>
          </p:cNvPr>
          <p:cNvSpPr/>
          <p:nvPr/>
        </p:nvSpPr>
        <p:spPr>
          <a:xfrm>
            <a:off x="987552" y="2770632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6B765C7-9E37-DB8A-1C90-025D90BEA1A7}"/>
              </a:ext>
            </a:extLst>
          </p:cNvPr>
          <p:cNvSpPr/>
          <p:nvPr/>
        </p:nvSpPr>
        <p:spPr>
          <a:xfrm>
            <a:off x="1152144" y="2935224"/>
            <a:ext cx="658368" cy="658368"/>
          </a:xfrm>
          <a:prstGeom prst="roundRect">
            <a:avLst/>
          </a:prstGeom>
          <a:solidFill>
            <a:srgbClr val="3572A5"/>
          </a:solidFill>
          <a:ln>
            <a:solidFill>
              <a:srgbClr val="357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8AC406-E367-898F-CDEB-4B809B163525}"/>
              </a:ext>
            </a:extLst>
          </p:cNvPr>
          <p:cNvSpPr txBox="1"/>
          <p:nvPr/>
        </p:nvSpPr>
        <p:spPr>
          <a:xfrm>
            <a:off x="1947672" y="2953512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2C"/>
                </a:solidFill>
              </a:rPr>
              <a:t>Python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390B17-3862-D775-07D9-59464B9DBDAC}"/>
              </a:ext>
            </a:extLst>
          </p:cNvPr>
          <p:cNvSpPr txBox="1"/>
          <p:nvPr/>
        </p:nvSpPr>
        <p:spPr>
          <a:xfrm>
            <a:off x="1947672" y="3273552"/>
            <a:ext cx="4069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5B6B78"/>
                </a:solidFill>
              </a:rPr>
              <a:t>Core analysis engine, agent logic, scenario model, and orchestration.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9E2A764-53DB-D449-8817-BCC587C7252A}"/>
              </a:ext>
            </a:extLst>
          </p:cNvPr>
          <p:cNvSpPr/>
          <p:nvPr/>
        </p:nvSpPr>
        <p:spPr>
          <a:xfrm>
            <a:off x="6336792" y="2770632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F85059B-C89E-8A18-83D7-77142BDE3891}"/>
              </a:ext>
            </a:extLst>
          </p:cNvPr>
          <p:cNvSpPr/>
          <p:nvPr/>
        </p:nvSpPr>
        <p:spPr>
          <a:xfrm>
            <a:off x="6501384" y="2935224"/>
            <a:ext cx="658368" cy="658368"/>
          </a:xfrm>
          <a:prstGeom prst="roundRect">
            <a:avLst/>
          </a:prstGeom>
          <a:solidFill>
            <a:srgbClr val="FF4B4B"/>
          </a:solidFill>
          <a:ln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AE72AC-2FE3-CAD9-1169-9FC808DA6004}"/>
              </a:ext>
            </a:extLst>
          </p:cNvPr>
          <p:cNvSpPr txBox="1"/>
          <p:nvPr/>
        </p:nvSpPr>
        <p:spPr>
          <a:xfrm>
            <a:off x="7296912" y="2953512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2C"/>
                </a:solidFill>
              </a:rPr>
              <a:t>Streamlit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DF2D85-0BF7-10E2-C1A6-F436C74C5A05}"/>
              </a:ext>
            </a:extLst>
          </p:cNvPr>
          <p:cNvSpPr txBox="1"/>
          <p:nvPr/>
        </p:nvSpPr>
        <p:spPr>
          <a:xfrm>
            <a:off x="7296912" y="3273552"/>
            <a:ext cx="4069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5B6B78"/>
                </a:solidFill>
              </a:rPr>
              <a:t>Interactive demo application, command </a:t>
            </a:r>
            <a:r>
              <a:rPr sz="1100" dirty="0" err="1">
                <a:solidFill>
                  <a:srgbClr val="5B6B78"/>
                </a:solidFill>
              </a:rPr>
              <a:t>centre</a:t>
            </a:r>
            <a:r>
              <a:rPr sz="1100" dirty="0">
                <a:solidFill>
                  <a:srgbClr val="5B6B78"/>
                </a:solidFill>
              </a:rPr>
              <a:t> UI, and guided month-end workflow.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F1878ED-8438-78C8-9FC1-5D7B3B71922C}"/>
              </a:ext>
            </a:extLst>
          </p:cNvPr>
          <p:cNvSpPr/>
          <p:nvPr/>
        </p:nvSpPr>
        <p:spPr>
          <a:xfrm>
            <a:off x="987552" y="4096512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69E8E438-0DC9-E3B7-0B1E-02A9D8B33CC9}"/>
              </a:ext>
            </a:extLst>
          </p:cNvPr>
          <p:cNvSpPr/>
          <p:nvPr/>
        </p:nvSpPr>
        <p:spPr>
          <a:xfrm>
            <a:off x="1152144" y="4261104"/>
            <a:ext cx="658368" cy="658368"/>
          </a:xfrm>
          <a:prstGeom prst="roundRect">
            <a:avLst/>
          </a:prstGeom>
          <a:solidFill>
            <a:srgbClr val="156355"/>
          </a:solidFill>
          <a:ln>
            <a:solidFill>
              <a:srgbClr val="156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468D0F-E528-A610-4809-E6C2037F1A0F}"/>
              </a:ext>
            </a:extLst>
          </p:cNvPr>
          <p:cNvSpPr txBox="1"/>
          <p:nvPr/>
        </p:nvSpPr>
        <p:spPr>
          <a:xfrm>
            <a:off x="1947672" y="4279392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2C"/>
                </a:solidFill>
              </a:rPr>
              <a:t>Pandas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CBF02C-C798-FF7E-7277-9343D88080EF}"/>
              </a:ext>
            </a:extLst>
          </p:cNvPr>
          <p:cNvSpPr txBox="1"/>
          <p:nvPr/>
        </p:nvSpPr>
        <p:spPr>
          <a:xfrm>
            <a:off x="1947672" y="4599432"/>
            <a:ext cx="4069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5B6B78"/>
                </a:solidFill>
              </a:rPr>
              <a:t>Workbook shaping, KPI calculations, exception analysis, and agent worklists.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55C9D4D-0B9B-993F-6B30-4E5DBA811BBA}"/>
              </a:ext>
            </a:extLst>
          </p:cNvPr>
          <p:cNvSpPr/>
          <p:nvPr/>
        </p:nvSpPr>
        <p:spPr>
          <a:xfrm>
            <a:off x="6336792" y="4096512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004F491C-2501-BDA8-6117-F3C1AFBB97FD}"/>
              </a:ext>
            </a:extLst>
          </p:cNvPr>
          <p:cNvSpPr/>
          <p:nvPr/>
        </p:nvSpPr>
        <p:spPr>
          <a:xfrm>
            <a:off x="6501384" y="4261104"/>
            <a:ext cx="658368" cy="658368"/>
          </a:xfrm>
          <a:prstGeom prst="roundRect">
            <a:avLst/>
          </a:prstGeom>
          <a:solidFill>
            <a:srgbClr val="636EFA"/>
          </a:solidFill>
          <a:ln>
            <a:solidFill>
              <a:srgbClr val="636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D67A60-7F09-06BD-4BEE-9FF44C5DB670}"/>
              </a:ext>
            </a:extLst>
          </p:cNvPr>
          <p:cNvSpPr txBox="1"/>
          <p:nvPr/>
        </p:nvSpPr>
        <p:spPr>
          <a:xfrm>
            <a:off x="7296912" y="4279392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2C"/>
                </a:solidFill>
              </a:rPr>
              <a:t>Plotly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EA0942-76D7-0E18-B681-FF2D538AF93D}"/>
              </a:ext>
            </a:extLst>
          </p:cNvPr>
          <p:cNvSpPr txBox="1"/>
          <p:nvPr/>
        </p:nvSpPr>
        <p:spPr>
          <a:xfrm>
            <a:off x="7296912" y="4599432"/>
            <a:ext cx="4069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Readiness gauges, risk charts, and clean presentation visuals inside the app.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3CF6DD7-BCE4-1F85-1FC5-685C5F694886}"/>
              </a:ext>
            </a:extLst>
          </p:cNvPr>
          <p:cNvSpPr/>
          <p:nvPr/>
        </p:nvSpPr>
        <p:spPr>
          <a:xfrm>
            <a:off x="987552" y="5422392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98B33C4-5F95-DE31-5B51-BCD87AC9B703}"/>
              </a:ext>
            </a:extLst>
          </p:cNvPr>
          <p:cNvSpPr/>
          <p:nvPr/>
        </p:nvSpPr>
        <p:spPr>
          <a:xfrm>
            <a:off x="1152144" y="5586984"/>
            <a:ext cx="658368" cy="658368"/>
          </a:xfrm>
          <a:prstGeom prst="roundRect">
            <a:avLst/>
          </a:prstGeom>
          <a:solidFill>
            <a:srgbClr val="217346"/>
          </a:solidFill>
          <a:ln>
            <a:solidFill>
              <a:srgbClr val="21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xl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AD547A-D394-AF62-43F8-3C76E201AA91}"/>
              </a:ext>
            </a:extLst>
          </p:cNvPr>
          <p:cNvSpPr txBox="1"/>
          <p:nvPr/>
        </p:nvSpPr>
        <p:spPr>
          <a:xfrm>
            <a:off x="1947672" y="5605272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2C"/>
                </a:solidFill>
              </a:rPr>
              <a:t>OpenPyXL / Excel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9ADA7BF-9C40-F6D7-770B-EDDD38EC877B}"/>
              </a:ext>
            </a:extLst>
          </p:cNvPr>
          <p:cNvSpPr txBox="1"/>
          <p:nvPr/>
        </p:nvSpPr>
        <p:spPr>
          <a:xfrm>
            <a:off x="1947672" y="5925312"/>
            <a:ext cx="4069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Reads the month-end workbook and preserves the finance-team operating model.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275A042-09C4-1E44-27A6-5411F9BEC40C}"/>
              </a:ext>
            </a:extLst>
          </p:cNvPr>
          <p:cNvSpPr/>
          <p:nvPr/>
        </p:nvSpPr>
        <p:spPr>
          <a:xfrm>
            <a:off x="6336792" y="5422392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176B2AE-F663-E49A-0044-A6BB36F18688}"/>
              </a:ext>
            </a:extLst>
          </p:cNvPr>
          <p:cNvSpPr/>
          <p:nvPr/>
        </p:nvSpPr>
        <p:spPr>
          <a:xfrm>
            <a:off x="6501384" y="5586984"/>
            <a:ext cx="658368" cy="658368"/>
          </a:xfrm>
          <a:prstGeom prst="roundRect">
            <a:avLst/>
          </a:prstGeom>
          <a:solidFill>
            <a:srgbClr val="7353E5"/>
          </a:solidFill>
          <a:ln>
            <a:solidFill>
              <a:srgbClr val="73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BD4389A-619F-37B4-7159-08FBC0F3BF3C}"/>
              </a:ext>
            </a:extLst>
          </p:cNvPr>
          <p:cNvSpPr txBox="1"/>
          <p:nvPr/>
        </p:nvSpPr>
        <p:spPr>
          <a:xfrm>
            <a:off x="7296912" y="5605272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2C"/>
                </a:solidFill>
              </a:rPr>
              <a:t>Local AI Copilot Logic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3686CB-2867-9BAF-9794-F449E01167AA}"/>
              </a:ext>
            </a:extLst>
          </p:cNvPr>
          <p:cNvSpPr txBox="1"/>
          <p:nvPr/>
        </p:nvSpPr>
        <p:spPr>
          <a:xfrm>
            <a:off x="7296912" y="5925312"/>
            <a:ext cx="4069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Deterministic prompt routing, commentary drafting, and finance-ready narrative outputs.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280987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0F1F2C"/>
                </a:solidFill>
              </a:rPr>
              <a:t>Why the app exists</a:t>
            </a:r>
            <a:endParaRPr sz="2600" b="1" dirty="0">
              <a:solidFill>
                <a:srgbClr val="0F1F2C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Problem framing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C85DBEC-FA54-9C98-701C-A895853D1725}"/>
              </a:ext>
            </a:extLst>
          </p:cNvPr>
          <p:cNvSpPr/>
          <p:nvPr/>
        </p:nvSpPr>
        <p:spPr>
          <a:xfrm>
            <a:off x="624840" y="13258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B35452-5DA5-ACA4-9D7B-9C1971D31736}"/>
              </a:ext>
            </a:extLst>
          </p:cNvPr>
          <p:cNvSpPr txBox="1"/>
          <p:nvPr/>
        </p:nvSpPr>
        <p:spPr>
          <a:xfrm>
            <a:off x="771144" y="1417320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CLOSE READINESS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67C58B-5B00-A357-AA50-5268763562E6}"/>
              </a:ext>
            </a:extLst>
          </p:cNvPr>
          <p:cNvSpPr txBox="1"/>
          <p:nvPr/>
        </p:nvSpPr>
        <p:spPr>
          <a:xfrm>
            <a:off x="771144" y="1709928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75C5C"/>
                </a:solidFill>
              </a:rPr>
              <a:t>68/100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B40FDF-2000-4A3B-814E-19248DA0CEAD}"/>
              </a:ext>
            </a:extLst>
          </p:cNvPr>
          <p:cNvSpPr txBox="1"/>
          <p:nvPr/>
        </p:nvSpPr>
        <p:spPr>
          <a:xfrm>
            <a:off x="771144" y="216712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Baseline command-centre score before automation.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8BB3740-2FA1-E5E4-CE54-12B9DC1DBE47}"/>
              </a:ext>
            </a:extLst>
          </p:cNvPr>
          <p:cNvSpPr/>
          <p:nvPr/>
        </p:nvSpPr>
        <p:spPr>
          <a:xfrm>
            <a:off x="4373880" y="13258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780C2A-1CE3-73D1-FFD6-3B72DD6F2BB4}"/>
              </a:ext>
            </a:extLst>
          </p:cNvPr>
          <p:cNvSpPr txBox="1"/>
          <p:nvPr/>
        </p:nvSpPr>
        <p:spPr>
          <a:xfrm>
            <a:off x="4520184" y="1417320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PROJECTED CLOSE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2D739A-5021-8D32-92BF-613540576AA9}"/>
              </a:ext>
            </a:extLst>
          </p:cNvPr>
          <p:cNvSpPr txBox="1"/>
          <p:nvPr/>
        </p:nvSpPr>
        <p:spPr>
          <a:xfrm>
            <a:off x="4520184" y="1709928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77A2D"/>
                </a:solidFill>
              </a:rPr>
              <a:t>4.4 days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917498-2364-73D9-2B40-C08607AE1DB3}"/>
              </a:ext>
            </a:extLst>
          </p:cNvPr>
          <p:cNvSpPr txBox="1"/>
          <p:nvPr/>
        </p:nvSpPr>
        <p:spPr>
          <a:xfrm>
            <a:off x="4520184" y="216712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Current dashboard forecast versus the 4-day target.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2A1CC3F-7A37-2D6F-FBF1-98125101B922}"/>
              </a:ext>
            </a:extLst>
          </p:cNvPr>
          <p:cNvSpPr/>
          <p:nvPr/>
        </p:nvSpPr>
        <p:spPr>
          <a:xfrm>
            <a:off x="8138162" y="13258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9406DE-620D-8C99-376F-A37DCF9B7F8D}"/>
              </a:ext>
            </a:extLst>
          </p:cNvPr>
          <p:cNvSpPr txBox="1"/>
          <p:nvPr/>
        </p:nvSpPr>
        <p:spPr>
          <a:xfrm>
            <a:off x="8269224" y="1417320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AFTER AUTOMATION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C7C8EC-517C-DBED-E3ED-1F3566881E39}"/>
              </a:ext>
            </a:extLst>
          </p:cNvPr>
          <p:cNvSpPr txBox="1"/>
          <p:nvPr/>
        </p:nvSpPr>
        <p:spPr>
          <a:xfrm>
            <a:off x="8269224" y="1709928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3.7 days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1AC09E-F087-3E73-2C73-2346DFCBC559}"/>
              </a:ext>
            </a:extLst>
          </p:cNvPr>
          <p:cNvSpPr txBox="1"/>
          <p:nvPr/>
        </p:nvSpPr>
        <p:spPr>
          <a:xfrm>
            <a:off x="8269224" y="216712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Forecast after the full automation bundle is executed.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275491-0F5B-0C85-B585-BBBB0A5640A5}"/>
              </a:ext>
            </a:extLst>
          </p:cNvPr>
          <p:cNvSpPr txBox="1"/>
          <p:nvPr/>
        </p:nvSpPr>
        <p:spPr>
          <a:xfrm>
            <a:off x="734568" y="3429000"/>
            <a:ext cx="8952515" cy="990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dirty="0"/>
              <a:t>Transforms month-end from reactive exception hunting into a guided, auditable operating system.</a:t>
            </a:r>
            <a:endParaRPr lang="en-US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endParaRPr lang="en-US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dirty="0"/>
              <a:t>Combines Command Centre visibility, specialist agents, before/after scenario testing, and AI copilot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A0966-20F1-6840-4687-F92B983AC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CCF4D7-464C-C6C0-8D78-1E0F195D4D68}"/>
              </a:ext>
            </a:extLst>
          </p:cNvPr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What the app is solving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DE8DC-2B34-E49F-C1AB-29F4C7F8B921}"/>
              </a:ext>
            </a:extLst>
          </p:cNvPr>
          <p:cNvSpPr txBox="1"/>
          <p:nvPr/>
        </p:nvSpPr>
        <p:spPr>
          <a:xfrm>
            <a:off x="566928" y="914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The delay is caused by exception handling and approval friction, not transaction processing.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6172A9-53D7-6698-1321-37D08328E9A2}"/>
              </a:ext>
            </a:extLst>
          </p:cNvPr>
          <p:cNvSpPr/>
          <p:nvPr/>
        </p:nvSpPr>
        <p:spPr>
          <a:xfrm>
            <a:off x="594360" y="132588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D9D27-6F87-2D7D-209D-D24E7200929F}"/>
              </a:ext>
            </a:extLst>
          </p:cNvPr>
          <p:cNvSpPr txBox="1"/>
          <p:nvPr/>
        </p:nvSpPr>
        <p:spPr>
          <a:xfrm>
            <a:off x="740664" y="14173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PENDING GL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D408F-5812-3C41-76CE-E1AD39A43D57}"/>
              </a:ext>
            </a:extLst>
          </p:cNvPr>
          <p:cNvSpPr txBox="1"/>
          <p:nvPr/>
        </p:nvSpPr>
        <p:spPr>
          <a:xfrm>
            <a:off x="740664" y="17099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75C5C"/>
                </a:solidFill>
              </a:rPr>
              <a:t>171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98112-2D43-F831-2A46-913DCE0A6CA3}"/>
              </a:ext>
            </a:extLst>
          </p:cNvPr>
          <p:cNvSpPr txBox="1"/>
          <p:nvPr/>
        </p:nvSpPr>
        <p:spPr>
          <a:xfrm>
            <a:off x="740664" y="2167128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5B6B78"/>
                </a:solidFill>
              </a:rPr>
              <a:t>Journals still in review or approval.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78AB1C2-CF9C-CD5D-B0B9-407B4B6DA081}"/>
              </a:ext>
            </a:extLst>
          </p:cNvPr>
          <p:cNvSpPr/>
          <p:nvPr/>
        </p:nvSpPr>
        <p:spPr>
          <a:xfrm>
            <a:off x="2606040" y="132588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9AC79C-D819-C0E0-AFE7-67DA9865EDBC}"/>
              </a:ext>
            </a:extLst>
          </p:cNvPr>
          <p:cNvSpPr txBox="1"/>
          <p:nvPr/>
        </p:nvSpPr>
        <p:spPr>
          <a:xfrm>
            <a:off x="2752344" y="14173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BANK EXCEPTIONS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CC47CE-4C52-6DFA-1543-D083C8BF46CB}"/>
              </a:ext>
            </a:extLst>
          </p:cNvPr>
          <p:cNvSpPr txBox="1"/>
          <p:nvPr/>
        </p:nvSpPr>
        <p:spPr>
          <a:xfrm>
            <a:off x="2752344" y="17099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77A2D"/>
                </a:solidFill>
              </a:rPr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AF3E60-DB84-A942-267A-C1DFAF78C635}"/>
              </a:ext>
            </a:extLst>
          </p:cNvPr>
          <p:cNvSpPr txBox="1"/>
          <p:nvPr/>
        </p:nvSpPr>
        <p:spPr>
          <a:xfrm>
            <a:off x="2752344" y="2167128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5B6B78"/>
                </a:solidFill>
              </a:rPr>
              <a:t>Cash items still open in reconciliation.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BD951EA-20F2-F989-3338-29F773ADE6C7}"/>
              </a:ext>
            </a:extLst>
          </p:cNvPr>
          <p:cNvSpPr/>
          <p:nvPr/>
        </p:nvSpPr>
        <p:spPr>
          <a:xfrm>
            <a:off x="4617720" y="132588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3C7BC2-5084-1A9C-B16C-AB0EDCE63AE6}"/>
              </a:ext>
            </a:extLst>
          </p:cNvPr>
          <p:cNvSpPr txBox="1"/>
          <p:nvPr/>
        </p:nvSpPr>
        <p:spPr>
          <a:xfrm>
            <a:off x="4764024" y="14173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IC EXCEPTIONS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284ADA-5B5C-C579-1ADC-60A40759E1AB}"/>
              </a:ext>
            </a:extLst>
          </p:cNvPr>
          <p:cNvSpPr txBox="1"/>
          <p:nvPr/>
        </p:nvSpPr>
        <p:spPr>
          <a:xfrm>
            <a:off x="4764024" y="17099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75C5C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32DD3B-C756-620F-9149-1954C44547D6}"/>
              </a:ext>
            </a:extLst>
          </p:cNvPr>
          <p:cNvSpPr txBox="1"/>
          <p:nvPr/>
        </p:nvSpPr>
        <p:spPr>
          <a:xfrm>
            <a:off x="4764024" y="2167128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Cross-entity differences still unresolved.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F8EEC25-D3C9-86E4-6578-D88E2C2BC3F7}"/>
              </a:ext>
            </a:extLst>
          </p:cNvPr>
          <p:cNvSpPr/>
          <p:nvPr/>
        </p:nvSpPr>
        <p:spPr>
          <a:xfrm>
            <a:off x="6629400" y="132588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EE0F9D-F0F3-6C11-6AF3-B0D8B823D50A}"/>
              </a:ext>
            </a:extLst>
          </p:cNvPr>
          <p:cNvSpPr txBox="1"/>
          <p:nvPr/>
        </p:nvSpPr>
        <p:spPr>
          <a:xfrm>
            <a:off x="6775704" y="14173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AP ISSUES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3CD59E-6C44-8000-18CF-7809639ABAB3}"/>
              </a:ext>
            </a:extLst>
          </p:cNvPr>
          <p:cNvSpPr txBox="1"/>
          <p:nvPr/>
        </p:nvSpPr>
        <p:spPr>
          <a:xfrm>
            <a:off x="6775704" y="17099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77A2D"/>
                </a:solidFill>
              </a:rPr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CB6285-DC81-1313-5AD1-206C610E0772}"/>
              </a:ext>
            </a:extLst>
          </p:cNvPr>
          <p:cNvSpPr txBox="1"/>
          <p:nvPr/>
        </p:nvSpPr>
        <p:spPr>
          <a:xfrm>
            <a:off x="6775704" y="2167128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3-way match exceptions still open.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B34F8BF-72F6-D910-8A63-8E4ABDD54488}"/>
              </a:ext>
            </a:extLst>
          </p:cNvPr>
          <p:cNvSpPr/>
          <p:nvPr/>
        </p:nvSpPr>
        <p:spPr>
          <a:xfrm>
            <a:off x="8641080" y="132588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89B7A1-C8DE-1BA6-8C5E-7A6DA4128179}"/>
              </a:ext>
            </a:extLst>
          </p:cNvPr>
          <p:cNvSpPr txBox="1"/>
          <p:nvPr/>
        </p:nvSpPr>
        <p:spPr>
          <a:xfrm>
            <a:off x="8787384" y="14173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BLOCKED TASKS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C20A4B-27C3-1135-2350-54F870D215B4}"/>
              </a:ext>
            </a:extLst>
          </p:cNvPr>
          <p:cNvSpPr txBox="1"/>
          <p:nvPr/>
        </p:nvSpPr>
        <p:spPr>
          <a:xfrm>
            <a:off x="8787384" y="17099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75C5C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1907F0-6ABC-69EA-E659-24E59C021021}"/>
              </a:ext>
            </a:extLst>
          </p:cNvPr>
          <p:cNvSpPr txBox="1"/>
          <p:nvPr/>
        </p:nvSpPr>
        <p:spPr>
          <a:xfrm>
            <a:off x="8787384" y="2167128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Checklist dependencies blocking close.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CE8055-0E6C-C94A-CBE6-CF377F379A08}"/>
              </a:ext>
            </a:extLst>
          </p:cNvPr>
          <p:cNvSpPr txBox="1"/>
          <p:nvPr/>
        </p:nvSpPr>
        <p:spPr>
          <a:xfrm>
            <a:off x="685800" y="288036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ROOT CAUSE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851AC2-B121-079B-A17C-97593F1CC8B7}"/>
              </a:ext>
            </a:extLst>
          </p:cNvPr>
          <p:cNvSpPr txBox="1"/>
          <p:nvPr/>
        </p:nvSpPr>
        <p:spPr>
          <a:xfrm>
            <a:off x="685800" y="3154680"/>
            <a:ext cx="528792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171 GL approvals and reviews are the biggest operational blocker.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Cash, intercompany, and AP exceptions create downstream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reporting delays.</a:t>
            </a:r>
            <a:r>
              <a:rPr lang="en-US" dirty="0"/>
              <a:t> </a:t>
            </a:r>
            <a:r>
              <a:rPr dirty="0"/>
              <a:t>Checklist handoffs break because issues are 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found late, not because finance lacks activity.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B53036-3164-6436-2D1C-D06224B043C3}"/>
              </a:ext>
            </a:extLst>
          </p:cNvPr>
          <p:cNvSpPr txBox="1"/>
          <p:nvPr/>
        </p:nvSpPr>
        <p:spPr>
          <a:xfrm>
            <a:off x="6217920" y="288036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WHAT THE APP DELIVERS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AE2199-D946-8C5B-D711-F00930896901}"/>
              </a:ext>
            </a:extLst>
          </p:cNvPr>
          <p:cNvSpPr txBox="1"/>
          <p:nvPr/>
        </p:nvSpPr>
        <p:spPr>
          <a:xfrm>
            <a:off x="6217920" y="3154680"/>
            <a:ext cx="570835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CFO needs one place to see readiness, top blockers, and the 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path below 4 days.</a:t>
            </a:r>
            <a:r>
              <a:rPr lang="en-US" dirty="0"/>
              <a:t> </a:t>
            </a:r>
            <a:r>
              <a:rPr dirty="0"/>
              <a:t>Ops team needs to know exactly what to clear next 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and which actions can be automated safely.</a:t>
            </a:r>
            <a:r>
              <a:rPr lang="en-US" dirty="0"/>
              <a:t> </a:t>
            </a:r>
            <a:r>
              <a:rPr dirty="0"/>
              <a:t>Audit needs transparency 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on what moved automatically and what still needs sign-off.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E0E02C-87BB-7DF4-B564-AED0E0A18DF1}"/>
              </a:ext>
            </a:extLst>
          </p:cNvPr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Problem framing</a:t>
            </a:r>
          </a:p>
        </p:txBody>
      </p:sp>
    </p:spTree>
    <p:extLst>
      <p:ext uri="{BB962C8B-B14F-4D97-AF65-F5344CB8AC3E}">
        <p14:creationId xmlns:p14="http://schemas.microsoft.com/office/powerpoint/2010/main" val="402209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Before and after the automation bundle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The app shows the effect of running the operational bundle, not just descriptive insight.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46304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75C5C"/>
                </a:solidFill>
              </a:rPr>
              <a:t>68/100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1284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Before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3716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98064" y="146304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8064" y="175564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92/100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221284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After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716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9744" y="146304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CONTINUOUS 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175564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77A2D"/>
                </a:solidFill>
              </a:rPr>
              <a:t>4.4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21284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Before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3716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21424" y="146304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5B6B78"/>
                </a:solidFill>
              </a:rPr>
              <a:t>CONTINUOUS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5900" y="1755648"/>
            <a:ext cx="122552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2A9D8F"/>
                </a:solidFill>
              </a:rPr>
              <a:t>3.</a:t>
            </a:r>
            <a:r>
              <a:rPr lang="en-US" sz="2400" b="1" dirty="0">
                <a:solidFill>
                  <a:srgbClr val="2A9D8F"/>
                </a:solidFill>
              </a:rPr>
              <a:t>7</a:t>
            </a:r>
            <a:r>
              <a:rPr sz="2400" b="1" dirty="0">
                <a:solidFill>
                  <a:srgbClr val="2A9D8F"/>
                </a:solidFill>
              </a:rPr>
              <a:t>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221284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After automation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125965"/>
              </p:ext>
            </p:extLst>
          </p:nvPr>
        </p:nvGraphicFramePr>
        <p:xfrm>
          <a:off x="731520" y="30632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Before</a:t>
                      </a:r>
                    </a:p>
                  </a:txBody>
                  <a:tcPr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43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Pending GL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rPr dirty="0"/>
                        <a:t>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rPr dirty="0"/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Bank Exceptions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IC Exceptions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AP Exceptions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Blocked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720840" y="3063240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EXECUTIVE 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337560"/>
            <a:ext cx="447782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Readiness improves by 24 points.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Continuous forecast improves from 4.4 to 3.</a:t>
            </a:r>
            <a:r>
              <a:rPr lang="en-US" dirty="0"/>
              <a:t>7</a:t>
            </a:r>
            <a:r>
              <a:rPr dirty="0"/>
              <a:t> days.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The biggest improvement comes from GL approval 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routing, checklist unblocking, and exception auto-clear.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Before vs after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App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5087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COMMAND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258568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5B6B78"/>
                </a:solidFill>
              </a:rPr>
              <a:t>Readiness, before/after close signal, month-end steps, and action 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17320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15384" y="15087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CLOSE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5384" y="2258568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5B6B78"/>
                </a:solidFill>
              </a:rPr>
              <a:t>Checklist blockers, dependency handoffs, and critical-path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417320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98664" y="15087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8664" y="2258568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GL, Bank, IC, Journal, Audit, and Variance Analysis specialist 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" y="37490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4498848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Eight-sheet risk scan plus legal-entity risk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657600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15384" y="37490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5B6B78"/>
                </a:solidFill>
              </a:rPr>
              <a:t>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5384" y="4498848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Automation bundle impact, posting outcomes, and before/after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3657600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98664" y="37490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AI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4498848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Finance Q&amp;A routed through the local close-intelligence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Product walkthrough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Agent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5B6B78"/>
                </a:solidFill>
              </a:rPr>
              <a:t>Each agent owns a specific part of the close and feeds a common readiness and posting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8800166" cy="43242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b="1" dirty="0"/>
              <a:t>GL Approval Agent: </a:t>
            </a:r>
            <a:r>
              <a:rPr dirty="0"/>
              <a:t>Triages pending journals into straight-through, manager, controller, and CFO lanes.</a:t>
            </a:r>
            <a:endParaRPr lang="en-US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endParaRPr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b="1" dirty="0"/>
              <a:t>Bank Reconciliation Agent: </a:t>
            </a:r>
            <a:r>
              <a:rPr dirty="0"/>
              <a:t>Routes cash exceptions, drafts residual journals, and isolates statement breaks.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endParaRPr lang="en-US" b="1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b="1" dirty="0"/>
              <a:t>IC Reconciliation Agent: </a:t>
            </a:r>
            <a:r>
              <a:rPr dirty="0"/>
              <a:t>Auto-matches counterparties, resolves FX mismatches, and drafts eliminations.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endParaRPr lang="en-US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b="1" dirty="0"/>
              <a:t>Journal Entry Agent: </a:t>
            </a:r>
            <a:r>
              <a:rPr dirty="0"/>
              <a:t>Builds ERP-ready accrual and reclass drafts with support and audit trails.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endParaRPr lang="en-US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b="1" dirty="0"/>
              <a:t>Audit &amp; Compliance Agent: </a:t>
            </a:r>
            <a:r>
              <a:rPr dirty="0"/>
              <a:t>Scores control completeness and separates ready-to-post from held entries.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endParaRPr lang="en-US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b="1" dirty="0"/>
              <a:t>Variance Analysis Agent: </a:t>
            </a:r>
            <a:r>
              <a:rPr dirty="0"/>
              <a:t>Calculates MoM and YoY anomalies and drafts executive commentary.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endParaRPr lang="en-US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b="1" dirty="0"/>
              <a:t>Close Tracker: </a:t>
            </a:r>
            <a:r>
              <a:rPr dirty="0"/>
              <a:t>Turns checklist dependencies into an unblock queue with critical-path visibility.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Agent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Automation bundle and control transparency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5B6B78"/>
                </a:solidFill>
              </a:rPr>
              <a:t>One controlled bundle runs in the app, with an audit trail on what changed and what still needs release.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BUNDLE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5691"/>
            <a:ext cx="4973541" cy="43242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1. Auto-approve 16 straight-through journals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2. Fast-track manager and controller approval packets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3. Clear 3 timing items and post 2 bank drafts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4. Post 2 IC elimination drafts and clear matched pairs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5. Post 7 ERP-ready journal drafts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6. Auto-release blocked checklist handoffs (7 </a:t>
            </a:r>
            <a:r>
              <a:rPr dirty="0" err="1"/>
              <a:t>hrs</a:t>
            </a:r>
            <a:r>
              <a:rPr dirty="0"/>
              <a:t> recoverable)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7. Sweep low-risk AP matching exceptions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1732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35824" y="15087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AUTO-POST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35824" y="180136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5824" y="2258568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5B6B78"/>
                </a:solidFill>
              </a:rPr>
              <a:t>Moves straight into ERP when policy allows.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41732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01784" y="15087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READY TO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1784" y="180136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77A2D"/>
                </a:solidFill>
              </a:rPr>
              <a:t>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1784" y="2258568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Cleared but still awaiting 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92608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35824" y="3017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MANUAL 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4" y="33101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75C5C"/>
                </a:solidFill>
              </a:rPr>
              <a:t>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4" y="3767328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Still requires review or approval.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292608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01784" y="3017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HOURS 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33101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01784" y="3767328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Recovered from the automation bundle.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572000"/>
            <a:ext cx="4693657" cy="990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Run sheet logs timestamps, actions applied, 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hours saved, and posting state.</a:t>
            </a:r>
            <a:r>
              <a:rPr lang="en-US" dirty="0"/>
              <a:t> </a:t>
            </a:r>
            <a:r>
              <a:rPr dirty="0"/>
              <a:t>Before/after risk cards 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and agent tables make the automation effect transparent.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Automation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How the CFO and operations team use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The app is designed to answer three questions fast: Where are we? What moved? What do we do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OPERATOR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46497"/>
            <a:ext cx="4982518" cy="29905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1. Load the workbook and validate the period.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2. Review the Command Centre before/after readiness signal.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3. Run the automation bundle from Month-End Steps.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4. Work the top three priorities and owner queue.</a:t>
            </a: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rPr dirty="0"/>
              <a:t>5. Use AI Copilot for blocker, entity, and variance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TOP FOCUS AREAS FROM THE CURRENT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1" y="1846497"/>
            <a:ext cx="5723068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dirty="0"/>
              <a:t>Clear pending GL reviews and approvals - Final account review and downstream controller sign-off</a:t>
            </a:r>
            <a:endParaRPr lang="en-US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endParaRPr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dirty="0"/>
              <a:t>Resolve bank reconciliation exceptions - Cash certification and treasury</a:t>
            </a:r>
            <a:r>
              <a:rPr lang="en-US" dirty="0"/>
              <a:t> </a:t>
            </a:r>
            <a:r>
              <a:rPr dirty="0"/>
              <a:t>close readiness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endParaRPr lang="en-US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dirty="0"/>
              <a:t>Unblock critical close checklist tasks - Critical checklist handoffs across</a:t>
            </a:r>
            <a:r>
              <a:rPr lang="en-US" dirty="0"/>
              <a:t> </a:t>
            </a:r>
            <a:r>
              <a:rPr dirty="0"/>
              <a:t>reconciliation, journals, and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Operating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Business impact and demo message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46304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READINESS LIFT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75564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+24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212848"/>
            <a:ext cx="311655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5B6B78"/>
                </a:solidFill>
              </a:rPr>
              <a:t>68/100 to 92/100 after </a:t>
            </a:r>
            <a:r>
              <a:rPr lang="en-US" sz="1000" dirty="0">
                <a:solidFill>
                  <a:srgbClr val="5B6B78"/>
                </a:solidFill>
              </a:rPr>
              <a:t> running </a:t>
            </a:r>
            <a:r>
              <a:rPr sz="1000" dirty="0">
                <a:solidFill>
                  <a:srgbClr val="5B6B78"/>
                </a:solidFill>
              </a:rPr>
              <a:t>the</a:t>
            </a:r>
            <a:r>
              <a:rPr lang="en-US" sz="1000" dirty="0">
                <a:solidFill>
                  <a:srgbClr val="5B6B78"/>
                </a:solidFill>
              </a:rPr>
              <a:t> automation</a:t>
            </a:r>
            <a:r>
              <a:rPr sz="1000" dirty="0">
                <a:solidFill>
                  <a:srgbClr val="5B6B78"/>
                </a:solidFill>
              </a:rPr>
              <a:t> bundle.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5424" y="146304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CLOSE 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7610" y="1755648"/>
            <a:ext cx="20045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2A9D8F"/>
                </a:solidFill>
              </a:rPr>
              <a:t>4.4 -&gt; 3.</a:t>
            </a:r>
            <a:r>
              <a:rPr lang="en-US" sz="2400" b="1" dirty="0">
                <a:solidFill>
                  <a:srgbClr val="2A9D8F"/>
                </a:solidFill>
              </a:rPr>
              <a:t>7</a:t>
            </a:r>
            <a:r>
              <a:rPr sz="2400" b="1" dirty="0">
                <a:solidFill>
                  <a:srgbClr val="2A9D8F"/>
                </a:solidFill>
              </a:rPr>
              <a:t>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12848"/>
            <a:ext cx="157927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>
                <a:solidFill>
                  <a:srgbClr val="5B6B78"/>
                </a:solidFill>
              </a:rPr>
              <a:t>Forecast </a:t>
            </a:r>
            <a:r>
              <a:rPr sz="1000" dirty="0">
                <a:solidFill>
                  <a:srgbClr val="5B6B78"/>
                </a:solidFill>
              </a:rPr>
              <a:t>after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38744" y="146304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BLOCKERS REMOVED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75564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IC 2 -&gt; 0 | Blocked 3 -&gt;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2128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5B6B78"/>
                </a:solidFill>
              </a:rPr>
              <a:t>Exception and checklist drag removed from the critical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546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PITCH 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429000"/>
            <a:ext cx="8647624" cy="1656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dirty="0" err="1"/>
              <a:t>NovaClose</a:t>
            </a:r>
            <a:r>
              <a:rPr dirty="0"/>
              <a:t> gives the CFO a single view of readiness, forecast, and automation impact.</a:t>
            </a:r>
            <a:endParaRPr lang="en-US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endParaRPr lang="en-US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lang="en-US" dirty="0"/>
              <a:t>It gives finance operations a clear next-action queue instead of a static exception report.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endParaRPr lang="en-US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500">
                <a:solidFill>
                  <a:srgbClr val="0F1F2C"/>
                </a:solidFill>
              </a:defRPr>
            </a:pPr>
            <a:r>
              <a:rPr dirty="0"/>
              <a:t>It keeps control transparency visible by separating auto-post, ready-to-post, and manual-hold outcomes.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Hackathon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1096</Words>
  <Application>Microsoft Macintosh PowerPoint</Application>
  <PresentationFormat>Widescreen</PresentationFormat>
  <Paragraphs>202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Michelle Austin - Keegor (US)</cp:lastModifiedBy>
  <cp:revision>6</cp:revision>
  <dcterms:created xsi:type="dcterms:W3CDTF">2013-01-27T09:14:16Z</dcterms:created>
  <dcterms:modified xsi:type="dcterms:W3CDTF">2026-03-11T22:30:36Z</dcterms:modified>
  <cp:category/>
</cp:coreProperties>
</file>