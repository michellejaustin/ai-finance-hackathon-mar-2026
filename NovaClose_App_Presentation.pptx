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457200"/>
            <a:ext cx="1115568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6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749808"/>
            <a:ext cx="7132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F1F2C"/>
                </a:solidFill>
              </a:rPr>
              <a:t>NovaClose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109728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5B6B78"/>
                </a:solidFill>
              </a:rPr>
              <a:t>AI-powered month-end close command centre | NovaTech | Feb 2025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34290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920240"/>
            <a:ext cx="3154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B6B78"/>
                </a:solidFill>
              </a:rPr>
              <a:t>CLOSE READINESS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212848"/>
            <a:ext cx="3154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C75C5C"/>
                </a:solidFill>
              </a:rPr>
              <a:t>68/100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670048"/>
            <a:ext cx="3154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B6B78"/>
                </a:solidFill>
              </a:rPr>
              <a:t>Baseline command-centre score before automation.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828800"/>
            <a:ext cx="34290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424" y="1920240"/>
            <a:ext cx="3154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B6B78"/>
                </a:solidFill>
              </a:rPr>
              <a:t>PROJECTED CLOSE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5424" y="2212848"/>
            <a:ext cx="3154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D77A2D"/>
                </a:solidFill>
              </a:rPr>
              <a:t>4.4 days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35424" y="2670048"/>
            <a:ext cx="3154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B6B78"/>
                </a:solidFill>
              </a:rPr>
              <a:t>Current dashboard forecast versus the 4-day target.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828800"/>
            <a:ext cx="34290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84464" y="1920240"/>
            <a:ext cx="3154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B6B78"/>
                </a:solidFill>
              </a:rPr>
              <a:t>AFTER AUTOMATION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4464" y="2212848"/>
            <a:ext cx="3154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2A9D8F"/>
                </a:solidFill>
              </a:rPr>
              <a:t>3.7 days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4464" y="2670048"/>
            <a:ext cx="3154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B6B78"/>
                </a:solidFill>
              </a:rPr>
              <a:t>Forecast after the full automation bundle is executed.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65760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B6B78"/>
                </a:solidFill>
              </a:rPr>
              <a:t>WHY THIS APP EXISTS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3931920"/>
            <a:ext cx="10698480" cy="1737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F1F2C"/>
                </a:solidFill>
              </a:defRPr>
            </a:pPr>
            <a:r>
              <a:t>Transforms month-end from reactive exception hunting into a guided, auditable operating system.</a:t>
            </a:r>
          </a:p>
          <a:p>
            <a:pPr>
              <a:spcAft>
                <a:spcPts val="800"/>
              </a:spcAft>
              <a:defRPr sz="1500">
                <a:solidFill>
                  <a:srgbClr val="0F1F2C"/>
                </a:solidFill>
              </a:defRPr>
            </a:pPr>
            <a:r>
              <a:t>Combines Command Centre visibility, specialist agents, before/after scenario testing, and AI copilot support.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00800"/>
            <a:ext cx="10607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B6B78"/>
                </a:solidFill>
              </a:rPr>
              <a:t>NovaClose | App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F1F2C"/>
                </a:solidFill>
              </a:rPr>
              <a:t>What the app is solving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14400"/>
            <a:ext cx="9875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B6B78"/>
                </a:solidFill>
              </a:rPr>
              <a:t>The delay is caused by exception handling and approval friction, not transaction processing.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325880"/>
            <a:ext cx="18288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1417320"/>
            <a:ext cx="1554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B6B78"/>
                </a:solidFill>
              </a:rPr>
              <a:t>PENDING GL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" y="1709928"/>
            <a:ext cx="1554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C75C5C"/>
                </a:solidFill>
              </a:rPr>
              <a:t>171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2167128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B6B78"/>
                </a:solidFill>
              </a:rPr>
              <a:t>Journals still in review or approval.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06040" y="1325880"/>
            <a:ext cx="18288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52344" y="1417320"/>
            <a:ext cx="1554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B6B78"/>
                </a:solidFill>
              </a:rPr>
              <a:t>BANK EXCEPTIONS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52344" y="1709928"/>
            <a:ext cx="1554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D77A2D"/>
                </a:solidFill>
              </a:rPr>
              <a:t>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2344" y="2167128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B6B78"/>
                </a:solidFill>
              </a:rPr>
              <a:t>Cash items still open in reconciliation.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17720" y="1325880"/>
            <a:ext cx="18288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64024" y="1417320"/>
            <a:ext cx="1554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B6B78"/>
                </a:solidFill>
              </a:rPr>
              <a:t>IC EXCEPTIONS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64024" y="1709928"/>
            <a:ext cx="1554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C75C5C"/>
                </a:solidFill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64024" y="2167128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B6B78"/>
                </a:solidFill>
              </a:rPr>
              <a:t>Cross-entity differences still unresolved.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29400" y="1325880"/>
            <a:ext cx="18288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75704" y="1417320"/>
            <a:ext cx="1554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B6B78"/>
                </a:solidFill>
              </a:rPr>
              <a:t>AP ISSUES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75704" y="1709928"/>
            <a:ext cx="1554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D77A2D"/>
                </a:solidFill>
              </a:rPr>
              <a:t>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75704" y="2167128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B6B78"/>
                </a:solidFill>
              </a:rPr>
              <a:t>3-way match exceptions still open.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41080" y="1325880"/>
            <a:ext cx="18288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87384" y="1417320"/>
            <a:ext cx="1554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B6B78"/>
                </a:solidFill>
              </a:rPr>
              <a:t>BLOCKED TASKS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87384" y="1709928"/>
            <a:ext cx="1554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C75C5C"/>
                </a:solidFill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87384" y="2167128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B6B78"/>
                </a:solidFill>
              </a:rPr>
              <a:t>Checklist dependencies blocking close.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2880360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B6B78"/>
                </a:solidFill>
              </a:rPr>
              <a:t>ROOT CAUSE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3154680"/>
            <a:ext cx="5120640" cy="2651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F1F2C"/>
                </a:solidFill>
              </a:defRPr>
            </a:pPr>
            <a:r>
              <a:t>171 GL approvals and reviews are the biggest operational blocker.</a:t>
            </a:r>
          </a:p>
          <a:p>
            <a:pPr>
              <a:spcAft>
                <a:spcPts val="800"/>
              </a:spcAft>
              <a:defRPr sz="1500">
                <a:solidFill>
                  <a:srgbClr val="0F1F2C"/>
                </a:solidFill>
              </a:defRPr>
            </a:pPr>
            <a:r>
              <a:t>Cash, intercompany, and AP exceptions create downstream reporting delays.</a:t>
            </a:r>
          </a:p>
          <a:p>
            <a:pPr>
              <a:spcAft>
                <a:spcPts val="800"/>
              </a:spcAft>
              <a:defRPr sz="1500">
                <a:solidFill>
                  <a:srgbClr val="0F1F2C"/>
                </a:solidFill>
              </a:defRPr>
            </a:pPr>
            <a:r>
              <a:t>Checklist handoffs break because issues are found late, not because finance lacks activity.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2880360"/>
            <a:ext cx="5212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B6B78"/>
                </a:solidFill>
              </a:rPr>
              <a:t>WHAT THE APP DELIVERS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3154680"/>
            <a:ext cx="5212080" cy="2651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F1F2C"/>
                </a:solidFill>
              </a:defRPr>
            </a:pPr>
            <a:r>
              <a:t>CFO needs one place to see readiness, top blockers, and the path below 4 days.</a:t>
            </a:r>
          </a:p>
          <a:p>
            <a:pPr>
              <a:spcAft>
                <a:spcPts val="800"/>
              </a:spcAft>
              <a:defRPr sz="1500">
                <a:solidFill>
                  <a:srgbClr val="0F1F2C"/>
                </a:solidFill>
              </a:defRPr>
            </a:pPr>
            <a:r>
              <a:t>Ops team needs to know exactly what to clear next and which actions can be automated safely.</a:t>
            </a:r>
          </a:p>
          <a:p>
            <a:pPr>
              <a:spcAft>
                <a:spcPts val="800"/>
              </a:spcAft>
              <a:defRPr sz="1500">
                <a:solidFill>
                  <a:srgbClr val="0F1F2C"/>
                </a:solidFill>
              </a:defRPr>
            </a:pPr>
            <a:r>
              <a:t>Audit needs transparency on what moved automatically and what still needs sign-off.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00800"/>
            <a:ext cx="10607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B6B78"/>
                </a:solidFill>
              </a:rPr>
              <a:t>NovaClose | Problem framing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F1F2C"/>
                </a:solidFill>
              </a:rPr>
              <a:t>Before and after the automation bundle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14400"/>
            <a:ext cx="9875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B6B78"/>
                </a:solidFill>
              </a:rPr>
              <a:t>The app shows the effect of running the operational bundle, not just descriptive insight.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18288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6384" y="1463040"/>
            <a:ext cx="1554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B6B78"/>
                </a:solidFill>
              </a:rPr>
              <a:t>READINESS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" y="1755648"/>
            <a:ext cx="1554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C75C5C"/>
                </a:solidFill>
              </a:rPr>
              <a:t>68/100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212848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B6B78"/>
                </a:solidFill>
              </a:rPr>
              <a:t>Before automation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51760" y="1371600"/>
            <a:ext cx="18288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98064" y="1463040"/>
            <a:ext cx="1554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B6B78"/>
                </a:solidFill>
              </a:rPr>
              <a:t>READINESS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98064" y="1755648"/>
            <a:ext cx="1554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2A9D8F"/>
                </a:solidFill>
              </a:rPr>
              <a:t>92/100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98064" y="2212848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B6B78"/>
                </a:solidFill>
              </a:rPr>
              <a:t>After automation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1371600"/>
            <a:ext cx="18288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9744" y="1463040"/>
            <a:ext cx="1554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B6B78"/>
                </a:solidFill>
              </a:rPr>
              <a:t>CONTINUOUS FORECAST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9744" y="1755648"/>
            <a:ext cx="1554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D77A2D"/>
                </a:solidFill>
              </a:rPr>
              <a:t>4.4 days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9744" y="2212848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B6B78"/>
                </a:solidFill>
              </a:rPr>
              <a:t>Before automation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0" y="1371600"/>
            <a:ext cx="18288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21424" y="1463040"/>
            <a:ext cx="1554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B6B78"/>
                </a:solidFill>
              </a:rPr>
              <a:t>CONTINUOUS FORECAST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21424" y="1755648"/>
            <a:ext cx="1554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2A9D8F"/>
                </a:solidFill>
              </a:rPr>
              <a:t>3.5 days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21424" y="2212848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B6B78"/>
                </a:solidFill>
              </a:rPr>
              <a:t>After automation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86800" y="1371600"/>
            <a:ext cx="18288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33104" y="1463040"/>
            <a:ext cx="1554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B6B78"/>
                </a:solidFill>
              </a:rPr>
              <a:t>DASHBOARD FORECAST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33104" y="1755648"/>
            <a:ext cx="1554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2A9D8F"/>
                </a:solidFill>
              </a:rPr>
              <a:t>3.7 days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33104" y="2212848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B6B78"/>
                </a:solidFill>
              </a:rPr>
              <a:t>After automation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731520" y="3063240"/>
          <a:ext cx="53949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280160"/>
                <a:gridCol w="1554480"/>
              </a:tblGrid>
              <a:tr h="38100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436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Before</a:t>
                      </a:r>
                    </a:p>
                  </a:txBody>
                  <a:tcPr>
                    <a:solidFill>
                      <a:srgbClr val="1436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After</a:t>
                      </a:r>
                    </a:p>
                  </a:txBody>
                  <a:tcPr>
                    <a:solidFill>
                      <a:srgbClr val="14364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F2C"/>
                          </a:solidFill>
                        </a:defRPr>
                      </a:pPr>
                      <a:r>
                        <a:t>Pending GL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F2C"/>
                          </a:solidFill>
                        </a:defRPr>
                      </a:pPr>
                      <a:r>
                        <a:t>171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F2C"/>
                          </a:solidFill>
                        </a:defRPr>
                      </a:pPr>
                      <a:r>
                        <a:t>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F2C"/>
                          </a:solidFill>
                        </a:defRPr>
                      </a:pPr>
                      <a:r>
                        <a:t>Bank Exceptions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F2C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F2C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F2C"/>
                          </a:solidFill>
                        </a:defRPr>
                      </a:pPr>
                      <a:r>
                        <a:t>IC Exceptions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F2C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F2C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F2C"/>
                          </a:solidFill>
                        </a:defRPr>
                      </a:pPr>
                      <a:r>
                        <a:t>AP Exceptions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F2C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F2C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F2C"/>
                          </a:solidFill>
                        </a:defRPr>
                      </a:pPr>
                      <a:r>
                        <a:t>Blocked Tasks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F2C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F2C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720840" y="3063240"/>
            <a:ext cx="4709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B6B78"/>
                </a:solidFill>
              </a:rPr>
              <a:t>EXECUTIVE TAKEAWAY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3337560"/>
            <a:ext cx="4709160" cy="2194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F1F2C"/>
                </a:solidFill>
              </a:defRPr>
            </a:pPr>
            <a:r>
              <a:t>Readiness improves by 24 points.</a:t>
            </a:r>
          </a:p>
          <a:p>
            <a:pPr>
              <a:spcAft>
                <a:spcPts val="800"/>
              </a:spcAft>
              <a:defRPr sz="1500">
                <a:solidFill>
                  <a:srgbClr val="0F1F2C"/>
                </a:solidFill>
              </a:defRPr>
            </a:pPr>
            <a:r>
              <a:t>Continuous forecast improves from 4.4 to 3.5 days.</a:t>
            </a:r>
          </a:p>
          <a:p>
            <a:pPr>
              <a:spcAft>
                <a:spcPts val="800"/>
              </a:spcAft>
              <a:defRPr sz="1500">
                <a:solidFill>
                  <a:srgbClr val="0F1F2C"/>
                </a:solidFill>
              </a:defRPr>
            </a:pPr>
            <a:r>
              <a:t>The biggest improvement comes from GL approval routing, checklist unblocking, and exception auto-clear.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00800"/>
            <a:ext cx="10607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B6B78"/>
                </a:solidFill>
              </a:rPr>
              <a:t>NovaClose | Before vs after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F1F2C"/>
                </a:solidFill>
              </a:rPr>
              <a:t>App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14400"/>
            <a:ext cx="9875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B6B78"/>
                </a:solidFill>
              </a:rPr>
              <a:t>The app is cleaner for demo use; explanatory narrative is carried in this deck instead.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417320"/>
            <a:ext cx="283464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508760"/>
            <a:ext cx="2560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B6B78"/>
                </a:solidFill>
              </a:rPr>
              <a:t>COMMAND CENTRE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258568"/>
            <a:ext cx="25603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B6B78"/>
                </a:solidFill>
              </a:rPr>
              <a:t>Readiness, before/after close signal, month-end steps, and action queue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69080" y="1417320"/>
            <a:ext cx="283464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15384" y="1508760"/>
            <a:ext cx="2560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B6B78"/>
                </a:solidFill>
              </a:rPr>
              <a:t>CLOSE TRACKER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15384" y="2258568"/>
            <a:ext cx="25603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B6B78"/>
                </a:solidFill>
              </a:rPr>
              <a:t>Checklist blockers, dependency handoffs, and critical-path work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52360" y="1417320"/>
            <a:ext cx="283464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98664" y="1508760"/>
            <a:ext cx="2560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B6B78"/>
                </a:solidFill>
              </a:rPr>
              <a:t>AGENTS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98664" y="2258568"/>
            <a:ext cx="25603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B6B78"/>
                </a:solidFill>
              </a:rPr>
              <a:t>GL, Bank, IC, Journal, Audit, and Variance Analysis specialist views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657600"/>
            <a:ext cx="283464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" y="3749040"/>
            <a:ext cx="2560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B6B78"/>
                </a:solidFill>
              </a:rPr>
              <a:t>RISKS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4498848"/>
            <a:ext cx="25603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B6B78"/>
                </a:solidFill>
              </a:rPr>
              <a:t>Eight-sheet risk scan plus legal-entity risk comparison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69080" y="3657600"/>
            <a:ext cx="283464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15384" y="3749040"/>
            <a:ext cx="2560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B6B78"/>
                </a:solidFill>
              </a:rPr>
              <a:t>SCENARIOS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15384" y="4498848"/>
            <a:ext cx="25603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B6B78"/>
                </a:solidFill>
              </a:rPr>
              <a:t>Automation bundle impact, posting outcomes, and before/after evidence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52360" y="3657600"/>
            <a:ext cx="283464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98664" y="3749040"/>
            <a:ext cx="2560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B6B78"/>
                </a:solidFill>
              </a:rPr>
              <a:t>AI COPILOT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98664" y="4498848"/>
            <a:ext cx="25603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B6B78"/>
                </a:solidFill>
              </a:rPr>
              <a:t>Finance Q&amp;A routed through the local close-intelligence engine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00800"/>
            <a:ext cx="10607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B6B78"/>
                </a:solidFill>
              </a:rPr>
              <a:t>NovaClose | Product walkthrough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F1F2C"/>
                </a:solidFill>
              </a:rPr>
              <a:t>Agent suite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14400"/>
            <a:ext cx="9875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B6B78"/>
                </a:solidFill>
              </a:rPr>
              <a:t>Each agent owns a specific part of the close and feeds a common readiness and posting model.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B6B78"/>
                </a:solidFill>
              </a:rPr>
              <a:t>WHAT MOVED OUT OF THE UI AND INTO THE DECK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97280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F1F2C"/>
                </a:solidFill>
              </a:defRPr>
            </a:pPr>
            <a:r>
              <a:t>GL Approval Agent: Triages pending journals into straight-through, manager, controller, and CFO lanes.</a:t>
            </a:r>
          </a:p>
          <a:p>
            <a:pPr>
              <a:spcAft>
                <a:spcPts val="800"/>
              </a:spcAft>
              <a:defRPr sz="1500">
                <a:solidFill>
                  <a:srgbClr val="0F1F2C"/>
                </a:solidFill>
              </a:defRPr>
            </a:pPr>
            <a:r>
              <a:t>Bank Reconciliation Agent: Routes cash exceptions, drafts residual journals, and isolates statement breaks.</a:t>
            </a:r>
          </a:p>
          <a:p>
            <a:pPr>
              <a:spcAft>
                <a:spcPts val="800"/>
              </a:spcAft>
              <a:defRPr sz="1500">
                <a:solidFill>
                  <a:srgbClr val="0F1F2C"/>
                </a:solidFill>
              </a:defRPr>
            </a:pPr>
            <a:r>
              <a:t>IC Reconciliation Agent: Auto-matches counterparties, resolves FX mismatches, and drafts eliminations.</a:t>
            </a:r>
          </a:p>
          <a:p>
            <a:pPr>
              <a:spcAft>
                <a:spcPts val="800"/>
              </a:spcAft>
              <a:defRPr sz="1500">
                <a:solidFill>
                  <a:srgbClr val="0F1F2C"/>
                </a:solidFill>
              </a:defRPr>
            </a:pPr>
            <a:r>
              <a:t>Journal Entry Agent: Builds ERP-ready accrual and reclass drafts with support and audit trails.</a:t>
            </a:r>
          </a:p>
          <a:p>
            <a:pPr>
              <a:spcAft>
                <a:spcPts val="800"/>
              </a:spcAft>
              <a:defRPr sz="1500">
                <a:solidFill>
                  <a:srgbClr val="0F1F2C"/>
                </a:solidFill>
              </a:defRPr>
            </a:pPr>
            <a:r>
              <a:t>Audit &amp; Compliance Agent: Scores control completeness and separates ready-to-post from held entries.</a:t>
            </a:r>
          </a:p>
          <a:p>
            <a:pPr>
              <a:spcAft>
                <a:spcPts val="800"/>
              </a:spcAft>
              <a:defRPr sz="1500">
                <a:solidFill>
                  <a:srgbClr val="0F1F2C"/>
                </a:solidFill>
              </a:defRPr>
            </a:pPr>
            <a:r>
              <a:t>Variance Analysis Agent: Calculates MoM and YoY anomalies and drafts executive commentary.</a:t>
            </a:r>
          </a:p>
          <a:p>
            <a:pPr>
              <a:spcAft>
                <a:spcPts val="800"/>
              </a:spcAft>
              <a:defRPr sz="1500">
                <a:solidFill>
                  <a:srgbClr val="0F1F2C"/>
                </a:solidFill>
              </a:defRPr>
            </a:pPr>
            <a:r>
              <a:t>Close Tracker: Turns checklist dependencies into an unblock queue with critical-path visibility.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607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B6B78"/>
                </a:solidFill>
              </a:rPr>
              <a:t>NovaClose | Agent architecture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F1F2C"/>
                </a:solidFill>
              </a:rPr>
              <a:t>Automation bundle and control transparency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14400"/>
            <a:ext cx="9875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B6B78"/>
                </a:solidFill>
              </a:rPr>
              <a:t>One controlled bundle runs in the app, with an audit trail on what changed and what still needs release.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2588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B6B78"/>
                </a:solidFill>
              </a:rPr>
              <a:t>BUNDLE ACTIONS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64008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F1F2C"/>
                </a:solidFill>
              </a:defRPr>
            </a:pPr>
            <a:r>
              <a:t>1. Auto-approve 16 straight-through journals</a:t>
            </a:r>
          </a:p>
          <a:p>
            <a:pPr>
              <a:spcAft>
                <a:spcPts val="800"/>
              </a:spcAft>
              <a:defRPr sz="1500">
                <a:solidFill>
                  <a:srgbClr val="0F1F2C"/>
                </a:solidFill>
              </a:defRPr>
            </a:pPr>
            <a:r>
              <a:t>2. Fast-track manager and controller approval packets</a:t>
            </a:r>
          </a:p>
          <a:p>
            <a:pPr>
              <a:spcAft>
                <a:spcPts val="800"/>
              </a:spcAft>
              <a:defRPr sz="1500">
                <a:solidFill>
                  <a:srgbClr val="0F1F2C"/>
                </a:solidFill>
              </a:defRPr>
            </a:pPr>
            <a:r>
              <a:t>3. Clear 3 timing items and post 2 bank drafts</a:t>
            </a:r>
          </a:p>
          <a:p>
            <a:pPr>
              <a:spcAft>
                <a:spcPts val="800"/>
              </a:spcAft>
              <a:defRPr sz="1500">
                <a:solidFill>
                  <a:srgbClr val="0F1F2C"/>
                </a:solidFill>
              </a:defRPr>
            </a:pPr>
            <a:r>
              <a:t>4. Post 2 IC elimination drafts and clear matched pairs</a:t>
            </a:r>
          </a:p>
          <a:p>
            <a:pPr>
              <a:spcAft>
                <a:spcPts val="800"/>
              </a:spcAft>
              <a:defRPr sz="1500">
                <a:solidFill>
                  <a:srgbClr val="0F1F2C"/>
                </a:solidFill>
              </a:defRPr>
            </a:pPr>
            <a:r>
              <a:t>5. Post 7 ERP-ready journal drafts</a:t>
            </a:r>
          </a:p>
          <a:p>
            <a:pPr>
              <a:spcAft>
                <a:spcPts val="800"/>
              </a:spcAft>
              <a:defRPr sz="1500">
                <a:solidFill>
                  <a:srgbClr val="0F1F2C"/>
                </a:solidFill>
              </a:defRPr>
            </a:pPr>
            <a:r>
              <a:t>6. Auto-release blocked checklist handoffs (7 hrs recoverable)</a:t>
            </a:r>
          </a:p>
          <a:p>
            <a:pPr>
              <a:spcAft>
                <a:spcPts val="800"/>
              </a:spcAft>
              <a:defRPr sz="1500">
                <a:solidFill>
                  <a:srgbClr val="0F1F2C"/>
                </a:solidFill>
              </a:defRPr>
            </a:pPr>
            <a:r>
              <a:t>7. Sweep low-risk AP matching exceptions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0" y="1417320"/>
            <a:ext cx="182880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35824" y="1508760"/>
            <a:ext cx="1554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B6B78"/>
                </a:solidFill>
              </a:rPr>
              <a:t>AUTO-POST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35824" y="1801368"/>
            <a:ext cx="1554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2A9D8F"/>
                </a:solidFill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35824" y="2258568"/>
            <a:ext cx="1554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B6B78"/>
                </a:solidFill>
              </a:rPr>
              <a:t>Moves straight into ERP when policy allows.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55480" y="1417320"/>
            <a:ext cx="182880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01784" y="1508760"/>
            <a:ext cx="1554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B6B78"/>
                </a:solidFill>
              </a:rPr>
              <a:t>READY TO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01784" y="1801368"/>
            <a:ext cx="1554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D77A2D"/>
                </a:solidFill>
              </a:rPr>
              <a:t>65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01784" y="2258568"/>
            <a:ext cx="1554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B6B78"/>
                </a:solidFill>
              </a:rPr>
              <a:t>Cleared but still awaiting release.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0" y="2926080"/>
            <a:ext cx="182880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35824" y="3017520"/>
            <a:ext cx="1554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B6B78"/>
                </a:solidFill>
              </a:rPr>
              <a:t>MANUAL HOLD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35824" y="3310128"/>
            <a:ext cx="1554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C75C5C"/>
                </a:solidFill>
              </a:rPr>
              <a:t>91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35824" y="3767328"/>
            <a:ext cx="1554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B6B78"/>
                </a:solidFill>
              </a:rPr>
              <a:t>Still requires review or approval.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555480" y="2926080"/>
            <a:ext cx="182880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01784" y="3017520"/>
            <a:ext cx="1554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B6B78"/>
                </a:solidFill>
              </a:rPr>
              <a:t>HOURS SAVED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01784" y="3310128"/>
            <a:ext cx="1554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2A9D8F"/>
                </a:solidFill>
              </a:rPr>
              <a:t>41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01784" y="3767328"/>
            <a:ext cx="1554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B6B78"/>
                </a:solidFill>
              </a:rPr>
              <a:t>Recovered from the automation bundle.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60920" y="4572000"/>
            <a:ext cx="41148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F1F2C"/>
                </a:solidFill>
              </a:defRPr>
            </a:pPr>
            <a:r>
              <a:t>Run sheet logs timestamps, actions applied, hours saved, and posting state.</a:t>
            </a:r>
          </a:p>
          <a:p>
            <a:pPr>
              <a:spcAft>
                <a:spcPts val="800"/>
              </a:spcAft>
              <a:defRPr sz="1500">
                <a:solidFill>
                  <a:srgbClr val="0F1F2C"/>
                </a:solidFill>
              </a:defRPr>
            </a:pPr>
            <a:r>
              <a:t>Before/after risk cards and agent tables make the automation effect transparent.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00800"/>
            <a:ext cx="10607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B6B78"/>
                </a:solidFill>
              </a:rPr>
              <a:t>NovaClose | Automation controls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F1F2C"/>
                </a:solidFill>
              </a:rPr>
              <a:t>How the CFO and operations team use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14400"/>
            <a:ext cx="9875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B6B78"/>
                </a:solidFill>
              </a:rPr>
              <a:t>The app is designed to answer three questions fast: Where are we? What moved? What do we do next?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17320"/>
            <a:ext cx="5303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B6B78"/>
                </a:solidFill>
              </a:rPr>
              <a:t>OPERATOR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5303520" cy="4023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F1F2C"/>
                </a:solidFill>
              </a:defRPr>
            </a:pPr>
            <a:r>
              <a:t>1. Load the workbook and validate the period.</a:t>
            </a:r>
          </a:p>
          <a:p>
            <a:pPr>
              <a:spcAft>
                <a:spcPts val="800"/>
              </a:spcAft>
              <a:defRPr sz="1500">
                <a:solidFill>
                  <a:srgbClr val="0F1F2C"/>
                </a:solidFill>
              </a:defRPr>
            </a:pPr>
            <a:r>
              <a:t>2. Review the Command Centre before/after readiness signal.</a:t>
            </a:r>
          </a:p>
          <a:p>
            <a:pPr>
              <a:spcAft>
                <a:spcPts val="800"/>
              </a:spcAft>
              <a:defRPr sz="1500">
                <a:solidFill>
                  <a:srgbClr val="0F1F2C"/>
                </a:solidFill>
              </a:defRPr>
            </a:pPr>
            <a:r>
              <a:t>3. Run the automation bundle from Month-End Steps.</a:t>
            </a:r>
          </a:p>
          <a:p>
            <a:pPr>
              <a:spcAft>
                <a:spcPts val="800"/>
              </a:spcAft>
              <a:defRPr sz="1500">
                <a:solidFill>
                  <a:srgbClr val="0F1F2C"/>
                </a:solidFill>
              </a:defRPr>
            </a:pPr>
            <a:r>
              <a:t>4. Work the top three priorities and owner queue.</a:t>
            </a:r>
          </a:p>
          <a:p>
            <a:pPr>
              <a:spcAft>
                <a:spcPts val="800"/>
              </a:spcAft>
              <a:defRPr sz="1500">
                <a:solidFill>
                  <a:srgbClr val="0F1F2C"/>
                </a:solidFill>
              </a:defRPr>
            </a:pPr>
            <a:r>
              <a:t>5. Use AI Copilot for blocker, entity, and variance questions.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417320"/>
            <a:ext cx="5212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B6B78"/>
                </a:solidFill>
              </a:rPr>
              <a:t>TOP FOCUS AREAS FROM THE CURRENT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91640"/>
            <a:ext cx="5212080" cy="4023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F1F2C"/>
                </a:solidFill>
              </a:defRPr>
            </a:pPr>
            <a:r>
              <a:t>Clear pending GL reviews and approvals - Final account review and downstream controller sign-off</a:t>
            </a:r>
          </a:p>
          <a:p>
            <a:pPr>
              <a:spcAft>
                <a:spcPts val="800"/>
              </a:spcAft>
              <a:defRPr sz="1500">
                <a:solidFill>
                  <a:srgbClr val="0F1F2C"/>
                </a:solidFill>
              </a:defRPr>
            </a:pPr>
            <a:r>
              <a:t>Resolve bank reconciliation exceptions - Cash certification and treasury close readiness</a:t>
            </a:r>
          </a:p>
          <a:p>
            <a:pPr>
              <a:spcAft>
                <a:spcPts val="800"/>
              </a:spcAft>
              <a:defRPr sz="1500">
                <a:solidFill>
                  <a:srgbClr val="0F1F2C"/>
                </a:solidFill>
              </a:defRPr>
            </a:pPr>
            <a:r>
              <a:t>Unblock critical close checklist tasks - Critical checklist handoffs across reconciliation, journals, and reporting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0607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B6B78"/>
                </a:solidFill>
              </a:rPr>
              <a:t>NovaClose | Operating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F1F2C"/>
                </a:solidFill>
              </a:rPr>
              <a:t>Business impact and demo message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14400"/>
            <a:ext cx="9875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B6B78"/>
                </a:solidFill>
              </a:rPr>
              <a:t>Use this slide as the closing narrative in the hackathon pitch.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371600"/>
            <a:ext cx="33832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463040"/>
            <a:ext cx="3108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B6B78"/>
                </a:solidFill>
              </a:rPr>
              <a:t>READINESS LIFT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1755648"/>
            <a:ext cx="3108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2A9D8F"/>
                </a:solidFill>
              </a:rPr>
              <a:t>+24 pts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212848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B6B78"/>
                </a:solidFill>
              </a:rPr>
              <a:t>68/100 to 92/100 after the bundle.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371600"/>
            <a:ext cx="33832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35424" y="1463040"/>
            <a:ext cx="3108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B6B78"/>
                </a:solidFill>
              </a:rPr>
              <a:t>CLOSE FORECAST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35424" y="1755648"/>
            <a:ext cx="3108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2A9D8F"/>
                </a:solidFill>
              </a:rPr>
              <a:t>4.4 -&gt; 3.5 days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5424" y="2212848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B6B78"/>
                </a:solidFill>
              </a:rPr>
              <a:t>Continuous forecast after automation.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371600"/>
            <a:ext cx="33832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38744" y="1463040"/>
            <a:ext cx="3108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B6B78"/>
                </a:solidFill>
              </a:rPr>
              <a:t>BLOCKERS REMOVED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38744" y="1755648"/>
            <a:ext cx="3108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2A9D8F"/>
                </a:solidFill>
              </a:rPr>
              <a:t>IC 2 -&gt; 0 | Blocked 3 -&gt; 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38744" y="2212848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B6B78"/>
                </a:solidFill>
              </a:rPr>
              <a:t>Exception and checklist drag removed from the critical path.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3154680"/>
            <a:ext cx="10789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B6B78"/>
                </a:solidFill>
              </a:rPr>
              <a:t>PITCH CLOSE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429000"/>
            <a:ext cx="1078992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F1F2C"/>
                </a:solidFill>
              </a:defRPr>
            </a:pPr>
            <a:r>
              <a:t>NovaClose gives the CFO a single view of readiness, forecast, and automation impact.</a:t>
            </a:r>
          </a:p>
          <a:p>
            <a:pPr>
              <a:spcAft>
                <a:spcPts val="800"/>
              </a:spcAft>
              <a:defRPr sz="1500">
                <a:solidFill>
                  <a:srgbClr val="0F1F2C"/>
                </a:solidFill>
              </a:defRPr>
            </a:pPr>
            <a:r>
              <a:t>It gives finance operations a clear next-action queue instead of a static exception report.</a:t>
            </a:r>
          </a:p>
          <a:p>
            <a:pPr>
              <a:spcAft>
                <a:spcPts val="800"/>
              </a:spcAft>
              <a:defRPr sz="1500">
                <a:solidFill>
                  <a:srgbClr val="0F1F2C"/>
                </a:solidFill>
              </a:defRPr>
            </a:pPr>
            <a:r>
              <a:t>It keeps control transparency visible by separating auto-post, ready-to-post, and manual-hold outcomes.</a:t>
            </a:r>
          </a:p>
          <a:p>
            <a:pPr>
              <a:spcAft>
                <a:spcPts val="800"/>
              </a:spcAft>
              <a:defRPr sz="1500">
                <a:solidFill>
                  <a:srgbClr val="0F1F2C"/>
                </a:solidFill>
              </a:defRPr>
            </a:pPr>
            <a:r>
              <a:t>The app is intentionally cleaner now; the deck carries the architecture, narrative, and agent story.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00800"/>
            <a:ext cx="10607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B6B78"/>
                </a:solidFill>
              </a:rPr>
              <a:t>NovaClose | Hackathon close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